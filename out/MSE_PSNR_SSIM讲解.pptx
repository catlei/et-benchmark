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28000"/>
            <a:ext cx="12193200" cy="1530000"/>
          </a:xfrm>
          <a:prstGeom prst="rect">
            <a:avLst/>
          </a:prstGeom>
          <a:solidFill>
            <a:srgbClr val="162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512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8C0E0"/>
                </a:solidFill>
                <a:latin typeface="Microsoft YaHei"/>
              </a:rPr>
              <a:t>图像 / 体积质量三剑客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088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MSE · PSNR · SSIM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3060000"/>
            <a:ext cx="93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5D4E8"/>
                </a:solidFill>
                <a:latin typeface="Microsoft YaHei"/>
              </a:rPr>
              <a:t>用形象示意图读懂三大评估指标
面向电子断层重建与体积对比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6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AB0C8"/>
                </a:solidFill>
                <a:latin typeface="Microsoft YaHei"/>
              </a:rPr>
              <a:t>ET-benchmark 教学课件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23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Microsoft YaHei"/>
              </a:rPr>
              <a:t>今天要记住的三幅画面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558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</a:rPr>
              <a:t>先建立直觉，再碰公式</a:t>
            </a:r>
          </a:p>
        </p:txBody>
      </p:sp>
      <p:pic>
        <p:nvPicPr>
          <p:cNvPr id="5" name="Picture 4" descr="t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" y="1080000"/>
            <a:ext cx="10872000" cy="34910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604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Microsoft YaHei"/>
              </a:rPr>
              <a:t>三者都需要 GT；本流水线会先把重建对齐到真值，再算指标。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23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Microsoft YaHei"/>
              </a:rPr>
              <a:t>MSE：像两张照片逐格对拍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558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</a:rPr>
              <a:t>Mean Squared Error · 均方误差 · 越小越好</a:t>
            </a:r>
          </a:p>
        </p:txBody>
      </p:sp>
      <p:pic>
        <p:nvPicPr>
          <p:cNvPr id="5" name="Picture 4" descr="mse_gri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900000"/>
            <a:ext cx="11088000" cy="41053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594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icrosoft YaHei"/>
              </a:rPr>
              <a:t>中间亮斑变糊 / 偏移 → 热图发红；平方会放大离谱坏点。完全一致时 MSE = 0。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23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Microsoft YaHei"/>
              </a:rPr>
              <a:t>MSE 在算什么？（格子版）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558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</a:rPr>
              <a:t>对齐 → 求差 → 平方 → 平均</a:t>
            </a:r>
          </a:p>
        </p:txBody>
      </p:sp>
      <p:pic>
        <p:nvPicPr>
          <p:cNvPr id="5" name="Picture 4" descr="mse_pix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007999"/>
            <a:ext cx="11088000" cy="414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5868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A68"/>
                </a:solidFill>
                <a:latin typeface="Microsoft YaHei"/>
              </a:rPr>
              <a:t>公式：MSE = (1/N) Σ (xᵢ − yᵢ)²    ｜  局限：只看数值差，不直接反映结构像不像。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23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Microsoft YaHei"/>
              </a:rPr>
              <a:t>PSNR：信号高峰 vs 误差噪声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558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</a:rPr>
              <a:t>Peak Signal-to-Noise Ratio · 越大越好（dB）</a:t>
            </a:r>
          </a:p>
        </p:txBody>
      </p:sp>
      <p:pic>
        <p:nvPicPr>
          <p:cNvPr id="5" name="Picture 4" descr="psnr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900000"/>
            <a:ext cx="11088000" cy="43783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594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icrosoft YaHei"/>
              </a:rPr>
              <a:t>本仓库峰值取 GT 最大值（不是固定 255）；MSE=0 时理论为无穷大。MSE↓ ⇒ PSNR↑。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23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Microsoft YaHei"/>
              </a:rPr>
              <a:t>SSIM：亮度 · 对比度 · 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558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</a:rPr>
              <a:t>Structural Similarity · 不只比差，还比“像不像”</a:t>
            </a:r>
          </a:p>
        </p:txBody>
      </p:sp>
      <p:pic>
        <p:nvPicPr>
          <p:cNvPr id="5" name="Picture 4" descr="ssim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900000"/>
            <a:ext cx="11088000" cy="3261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594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icrosoft YaHei"/>
              </a:rPr>
              <a:t>三项都接近，分数才接近 1。对整体亮度偏移、对比度缩放通常比 MSE 更稳健。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23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Microsoft YaHei"/>
              </a:rPr>
              <a:t>SSIM 分数长什么样？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558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</a:rPr>
              <a:t>越接近 1，结构越“同款”</a:t>
            </a:r>
          </a:p>
        </p:txBody>
      </p:sp>
      <p:pic>
        <p:nvPicPr>
          <p:cNvPr id="5" name="Picture 4" descr="ssim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007999"/>
            <a:ext cx="11088000" cy="32641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5688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Microsoft YaHei"/>
              </a:rPr>
              <a:t>仓库实现是全局简化版（整块体积拉平后一次算），更像整体统计结构相似度，不是滑动窗口局部 SSIM。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23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Microsoft YaHei"/>
              </a:rPr>
              <a:t>三指标对照：各管一摊事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558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</a:rPr>
              <a:t>同一对体积，三种读法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080000"/>
            <a:ext cx="10980000" cy="54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1170000"/>
            <a:ext cx="2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16000" y="117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6000" y="117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PSNR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6000" y="117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SSIM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" y="1655999"/>
            <a:ext cx="10980000" cy="1007999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00" y="1908000"/>
            <a:ext cx="219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3A68"/>
                </a:solidFill>
                <a:latin typeface="Microsoft YaHei"/>
              </a:rPr>
              <a:t>一句话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7999" y="1908000"/>
            <a:ext cx="27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Microsoft YaHei"/>
              </a:rPr>
              <a:t>差多大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8000" y="1908000"/>
            <a:ext cx="27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Microsoft YaHei"/>
              </a:rPr>
              <a:t>相对峰值多干净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8000" y="1908000"/>
            <a:ext cx="27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Microsoft YaHei"/>
              </a:rPr>
              <a:t>结构像不像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" y="2700000"/>
            <a:ext cx="10980000" cy="100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000" y="2951999"/>
            <a:ext cx="219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3A68"/>
                </a:solidFill>
                <a:latin typeface="Microsoft YaHei"/>
              </a:rPr>
              <a:t>好方向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7999" y="2951999"/>
            <a:ext cx="27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Microsoft YaHei"/>
              </a:rPr>
              <a:t>↓ 越小越好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8000" y="2951999"/>
            <a:ext cx="27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Microsoft YaHei"/>
              </a:rPr>
              <a:t>↑ 越大越好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8000" y="2951999"/>
            <a:ext cx="27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Microsoft YaHei"/>
              </a:rPr>
              <a:t>↑ 越近 1 越好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" y="3743999"/>
            <a:ext cx="10980000" cy="1007999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000" y="3995999"/>
            <a:ext cx="219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3A68"/>
                </a:solidFill>
                <a:latin typeface="Microsoft YaHei"/>
              </a:rPr>
              <a:t>敏感点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7999" y="3995999"/>
            <a:ext cx="27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Microsoft YaHei"/>
              </a:rPr>
              <a:t>大误差、强度尺度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68000" y="3995999"/>
            <a:ext cx="27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Microsoft YaHei"/>
              </a:rPr>
              <a:t>与 MSE 同向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48000" y="3995999"/>
            <a:ext cx="27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Microsoft YaHei"/>
              </a:rPr>
              <a:t>模糊 / 形变 / 条纹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00" y="4788000"/>
            <a:ext cx="10980000" cy="100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" y="5039999"/>
            <a:ext cx="219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3A68"/>
                </a:solidFill>
                <a:latin typeface="Microsoft YaHei"/>
              </a:rPr>
              <a:t>比喻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7999" y="5039999"/>
            <a:ext cx="27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Microsoft YaHei"/>
              </a:rPr>
              <a:t>逐格对拍差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68000" y="5039999"/>
            <a:ext cx="27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Microsoft YaHei"/>
              </a:rPr>
              <a:t>分贝信噪尺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48000" y="5039999"/>
            <a:ext cx="27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Microsoft YaHei"/>
              </a:rPr>
              <a:t>同款鉴定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23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Microsoft YaHei"/>
              </a:rPr>
              <a:t>怎么组合解读？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558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</a:rPr>
              <a:t>像体检报告：单项 + 组合更靠谱</a:t>
            </a:r>
          </a:p>
        </p:txBody>
      </p:sp>
      <p:pic>
        <p:nvPicPr>
          <p:cNvPr id="5" name="Picture 4" descr="com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000" y="864000"/>
            <a:ext cx="8928000" cy="53387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23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Microsoft YaHei"/>
              </a:rPr>
              <a:t>在 ET-benchmark 里怎么算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558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</a:rPr>
              <a:t>对齐 → 再算指标（错位会伪装成算法很差）</a:t>
            </a:r>
          </a:p>
        </p:txBody>
      </p:sp>
      <p:sp>
        <p:nvSpPr>
          <p:cNvPr id="5" name="Oval 4"/>
          <p:cNvSpPr/>
          <p:nvPr/>
        </p:nvSpPr>
        <p:spPr>
          <a:xfrm>
            <a:off x="1188000" y="1872000"/>
            <a:ext cx="1440000" cy="1440000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000" y="2232000"/>
            <a:ext cx="1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3528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3A68"/>
                </a:solidFill>
                <a:latin typeface="Microsoft YaHei"/>
              </a:rPr>
              <a:t>重建体积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3888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Microsoft YaHei"/>
              </a:rPr>
              <a:t>算法输出</a:t>
            </a:r>
          </a:p>
        </p:txBody>
      </p:sp>
      <p:sp>
        <p:nvSpPr>
          <p:cNvPr id="9" name="Oval 8"/>
          <p:cNvSpPr/>
          <p:nvPr/>
        </p:nvSpPr>
        <p:spPr>
          <a:xfrm>
            <a:off x="3996000" y="1872000"/>
            <a:ext cx="1440000" cy="1440000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96000" y="2232000"/>
            <a:ext cx="1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000" y="3528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3A68"/>
                </a:solidFill>
                <a:latin typeface="Microsoft YaHei"/>
              </a:rPr>
              <a:t>空间对齐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000" y="3888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Microsoft YaHei"/>
              </a:rPr>
              <a:t>贴合 GT 网格</a:t>
            </a:r>
          </a:p>
        </p:txBody>
      </p:sp>
      <p:sp>
        <p:nvSpPr>
          <p:cNvPr id="13" name="Oval 12"/>
          <p:cNvSpPr/>
          <p:nvPr/>
        </p:nvSpPr>
        <p:spPr>
          <a:xfrm>
            <a:off x="6803999" y="1872000"/>
            <a:ext cx="1440000" cy="1440000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03999" y="2232000"/>
            <a:ext cx="1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999" y="3528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3A68"/>
                </a:solidFill>
                <a:latin typeface="Microsoft YaHei"/>
              </a:rPr>
              <a:t>算三项指标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999" y="3888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Microsoft YaHei"/>
              </a:rPr>
              <a:t>MSE / PSNR / SSIM</a:t>
            </a:r>
          </a:p>
        </p:txBody>
      </p:sp>
      <p:sp>
        <p:nvSpPr>
          <p:cNvPr id="17" name="Oval 16"/>
          <p:cNvSpPr/>
          <p:nvPr/>
        </p:nvSpPr>
        <p:spPr>
          <a:xfrm>
            <a:off x="9612000" y="1872000"/>
            <a:ext cx="1440000" cy="1440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2000" y="2232000"/>
            <a:ext cx="1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000" y="3528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3A68"/>
                </a:solidFill>
                <a:latin typeface="Microsoft YaHei"/>
              </a:rPr>
              <a:t>读报告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2000" y="3888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Microsoft YaHei"/>
              </a:rPr>
              <a:t>组合解读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880000" y="2376000"/>
            <a:ext cx="540000" cy="251999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5688000" y="2376000"/>
            <a:ext cx="540000" cy="251999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8496000" y="2376000"/>
            <a:ext cx="540000" cy="251999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000" y="48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icrosoft YaHei"/>
              </a:rPr>
              <a:t>没有 GT 时这三项为空；配置 metrics 常见为 [psnr, ssim, mse]。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15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带走三句话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216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0DCEE"/>
                </a:solidFill>
                <a:latin typeface="Microsoft YaHei"/>
              </a:rPr>
              <a:t>MSE：逐格对拍，差的平方平均 —— 越小越好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2916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0DCEE"/>
                </a:solidFill>
                <a:latin typeface="Microsoft YaHei"/>
              </a:rPr>
              <a:t>PSNR：把 MSE 换成相对峰值的分贝尺 —— 越大越好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3671999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0DCEE"/>
                </a:solidFill>
                <a:latin typeface="Microsoft YaHei"/>
              </a:rPr>
              <a:t>SSIM：亮度 / 对比度 / 结构是否同款 —— 越近 1 越好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522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8C0E0"/>
                </a:solidFill>
                <a:latin typeface="Microsoft YaHei"/>
              </a:rPr>
              <a:t>先对齐，再比较；三项一起看，比死盯一个数更稳。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